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6" r:id="rId37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  <Relationship Id="rId37" Type="http://schemas.openxmlformats.org/officeDocument/2006/relationships/slide" Target="slides/slide3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07899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</a:rPr>
              <a:t>智学灵境</a:t>
            </a:r>
            <a:endParaRPr lang="en-US" sz="3600" b="1" dirty="0">
              <a:solidFill>
                <a:srgbClr val="4F46E5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1014984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</a:t>
            </a:r>
            <a:endParaRPr lang="en-US" sz="4000" b="1" dirty="0">
              <a:solidFill>
                <a:srgbClr val="22C55E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1773936"/>
            <a:ext cx="8961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</a:rPr>
              <a:t>高等教育个性化学习多智能体系统</a:t>
            </a:r>
            <a:endParaRPr lang="en-US" sz="3200" b="1" dirty="0">
              <a:solidFill>
                <a:srgbClr val="312E8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" y="235915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从“统一资料包”走向“持续理解学生的伴随式学习空间”</a:t>
            </a: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10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57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学生画像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757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六维画像 + 证据链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0202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6649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多智能体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6649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七类角色分工协同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9094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5541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自适应路径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5541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知识节点状态动态调优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07986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4433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安全校验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4433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生成后验证与防幻觉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818120" y="960120"/>
            <a:ext cx="3611880" cy="2816352"/>
          </a:xfrm>
          <a:prstGeom prst="roundRect">
            <a:avLst>
              <a:gd name="adj" fmla="val 259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</a:rPr>
              <a:t>意图</a:t>
            </a:r>
            <a:endParaRPr lang="en-US" sz="14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学生表达目标与卡点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03792" y="1938528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8384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2976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</a:rPr>
              <a:t>编排</a:t>
            </a:r>
            <a:endParaRPr lang="en-US" sz="1400" b="1" dirty="0">
              <a:solidFill>
                <a:srgbClr val="312E8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332976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拆解任务并选择智能体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107168" y="1938528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71760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36352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</a:rPr>
              <a:t>反馈</a:t>
            </a:r>
            <a:endParaRPr lang="en-US" sz="1400" b="1" dirty="0">
              <a:solidFill>
                <a:srgbClr val="166534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436352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资源与评估回流画像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8368" y="6428232"/>
            <a:ext cx="33985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01/31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393295" cy="8251825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 · CONTENTS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AGENDA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目录：从痛点到落地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7970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02/31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68680" y="1755648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833372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27505" y="1664335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1810512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项目价值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92224" y="2194306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痛点、定位、目标、功能地图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" y="2596896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674620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27505" y="250571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92224" y="2651760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系统设计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92224" y="3035554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分层架构、自治工作流、技术栈、数据模型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438144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3515868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27505" y="334645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92224" y="3493008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核心模块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792224" y="3876802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九大功能模块与页面运行逻辑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68680" y="4279392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4357116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627505" y="4187825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92224" y="4334256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算法机制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792224" y="4718050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画像、匹配、编队、评估与安全校验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68680" y="5120640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" y="5198364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627505" y="502920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92224" y="5175504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测试规划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792224" y="5559298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测试结果、应用前景与迭代路线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PROBLEM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高校工科教学的四个断点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01955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03/31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700784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847088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资源繁杂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2221992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课程资料、视频、题库、代码散落多处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按知识点、类型、难度统一收纳与检索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81928" y="1700784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1847088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学习路径固定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2221992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统一课表难以匹配不同基础与目标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路径根据画像、练习结果和节点状态动态调优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9808" y="3328416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474720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反馈滞后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849624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做完题后难判断下一步补什么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评估模块生成雷达图、热力图和资源建议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81928" y="3328416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474720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可信度不足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46520" y="3849624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AI 生成内容可能幻觉或超纲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校验官执行白名单、代码块与引用检查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关键结论：平台要解决的不是“资源再多一点”，而是让学习行为、资源供给与效果评估形成闭环。</a:t>
            </a:r>
            <a:endParaRPr lang="en-US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943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项目定位：伴随式智能学习伙伴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35940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04/31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" y="1664208"/>
            <a:ext cx="10149840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2E81"/>
                </a:solidFill>
              </a:rPr>
              <a:t>把传统课程静态、统一、不可追踪的资料集合，改造成可实时捕捉学习行为、动态迭代内容难度、适配个人认知水平的专属交互式学习空间。</a:t>
            </a:r>
            <a:endParaRPr lang="en-US" sz="2400" b="1" dirty="0">
              <a:solidFill>
                <a:srgbClr val="312E8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行为采集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33272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阅读、答疑、练习、资源调取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48990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13582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8174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画像更新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78174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学习目标、薄弱点、节奏、偏好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93892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8484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3076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资源适配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23076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讲义、导图、题库、代码实操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638794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3386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7978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学习反馈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67978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评估、补强、路径调优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51560" y="4754880"/>
            <a:ext cx="4447540" cy="9671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16152" y="4901184"/>
            <a:ext cx="39227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区别于静态资源平台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16152" y="5374513"/>
            <a:ext cx="392277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不是一次性推荐，而是长期追踪学习成长。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15685" y="4754880"/>
            <a:ext cx="4447540" cy="9671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80150" y="4901184"/>
            <a:ext cx="39227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区别于单轮问答工具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80150" y="5321935"/>
            <a:ext cx="4264025" cy="1708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不是单次回答，而是把结果沉淀到画像与路径。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总体目标：四项能力构成产品闭环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6992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05/31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7742" y="223088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对话建档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首次引导与随学随新的自然语言输入，构建六维学习画像。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43584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16736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CAPABILITY_1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47872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66769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多模态生成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2464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七智能体协作生成讲解、导图、题库、阅读、动画和实操。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14216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7368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CAPABILITY_2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18504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37401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路径自适应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83096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以知识图谱节点为单位，结合画像与学习记录刷新路径。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84848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CAPABILITY_3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89136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08033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结果可评估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53728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将正确率、学习记录、资源使用和画像变化汇总为反馈。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55480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8632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CAPABILITY_4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 MAP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功能地图：九大模块覆盖学习全流程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03911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06/31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工作台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总览状态与入口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4340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学习画像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0799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六维画像与版本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86384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学习计划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2843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目标拆解任务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96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资源工坊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755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智能体生成资源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4340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0799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图谱路径推荐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6384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题库训练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802843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多题型训练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296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智能辅导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8755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结构化答疑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4340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99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学习评估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0799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评估与建议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资源中心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2843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资产检索复用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5840" y="5376672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覆盖课前规划、课中学习、课后练习、学情复盘与资源复用。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96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3"/>
            </p:custDataLst>
          </p:nvPr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系统分层架构：四层支撑端到端闭环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37896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07/31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629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741977"/>
            <a:ext cx="6409944" cy="345634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340096"/>
            <a:ext cx="6355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图：智学灵境系统分层架构图</a:t>
            </a:r>
            <a:endParaRPr lang="en-US" sz="720" dirty="0"/>
          </a:p>
        </p:txBody>
      </p:sp>
      <p:sp>
        <p:nvSpPr>
          <p:cNvPr id="23" name="Shape 20"/>
          <p:cNvSpPr/>
          <p:nvPr>
            <p:custDataLst>
              <p:tags r:id="rId6"/>
            </p:custDataLst>
          </p:nvPr>
        </p:nvSpPr>
        <p:spPr>
          <a:xfrm>
            <a:off x="7635240" y="1609090"/>
            <a:ext cx="3780790" cy="8839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7"/>
            </p:custDataLst>
          </p:nvPr>
        </p:nvSpPr>
        <p:spPr>
          <a:xfrm>
            <a:off x="7799832" y="1755648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前端体验层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6" name="Shape 23"/>
          <p:cNvSpPr/>
          <p:nvPr>
            <p:custDataLst>
              <p:tags r:id="rId8"/>
            </p:custDataLst>
          </p:nvPr>
        </p:nvSpPr>
        <p:spPr>
          <a:xfrm>
            <a:off x="7635240" y="270637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4"/>
          <p:cNvSpPr/>
          <p:nvPr>
            <p:custDataLst>
              <p:tags r:id="rId9"/>
            </p:custDataLst>
          </p:nvPr>
        </p:nvSpPr>
        <p:spPr>
          <a:xfrm>
            <a:off x="7809865" y="2771140"/>
            <a:ext cx="3432175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多智能体调度层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>
            <p:custDataLst>
              <p:tags r:id="rId10"/>
            </p:custDataLst>
          </p:nvPr>
        </p:nvSpPr>
        <p:spPr>
          <a:xfrm>
            <a:off x="7799705" y="2191385"/>
            <a:ext cx="3237230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课程文档、编程实操、图谱、习题统一渲染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8" name="Text 25"/>
          <p:cNvSpPr/>
          <p:nvPr>
            <p:custDataLst>
              <p:tags r:id="rId11"/>
            </p:custDataLst>
          </p:nvPr>
        </p:nvSpPr>
        <p:spPr>
          <a:xfrm>
            <a:off x="7809865" y="3253740"/>
            <a:ext cx="3432175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编排器将学习任务转化为角色化流水线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6"/>
          <p:cNvSpPr/>
          <p:nvPr>
            <p:custDataLst>
              <p:tags r:id="rId12"/>
            </p:custDataLst>
          </p:nvPr>
        </p:nvSpPr>
        <p:spPr>
          <a:xfrm>
            <a:off x="7635240" y="381889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13"/>
            </p:custDataLst>
          </p:nvPr>
        </p:nvSpPr>
        <p:spPr>
          <a:xfrm>
            <a:off x="7799705" y="3909060"/>
            <a:ext cx="343154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服务能力层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8"/>
          <p:cNvSpPr/>
          <p:nvPr>
            <p:custDataLst>
              <p:tags r:id="rId14"/>
            </p:custDataLst>
          </p:nvPr>
        </p:nvSpPr>
        <p:spPr>
          <a:xfrm>
            <a:off x="7809865" y="4425315"/>
            <a:ext cx="3431540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流式输出、安全过滤、路径规划、辅导匹配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29"/>
          <p:cNvSpPr/>
          <p:nvPr>
            <p:custDataLst>
              <p:tags r:id="rId15"/>
            </p:custDataLst>
          </p:nvPr>
        </p:nvSpPr>
        <p:spPr>
          <a:xfrm>
            <a:off x="7635240" y="493141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0"/>
          <p:cNvSpPr/>
          <p:nvPr>
            <p:custDataLst>
              <p:tags r:id="rId16"/>
            </p:custDataLst>
          </p:nvPr>
        </p:nvSpPr>
        <p:spPr>
          <a:xfrm>
            <a:off x="7809865" y="5043170"/>
            <a:ext cx="343154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课程数据层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1"/>
          <p:cNvSpPr/>
          <p:nvPr>
            <p:custDataLst>
              <p:tags r:id="rId17"/>
            </p:custDataLst>
          </p:nvPr>
        </p:nvSpPr>
        <p:spPr>
          <a:xfrm>
            <a:off x="7809865" y="5449570"/>
            <a:ext cx="3431540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画像、资源、题库、知识库、学习记录</a:t>
            </a:r>
            <a:endParaRPr lang="en-US" sz="14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89135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AUTONOMOUS FLOW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自治工作流：从学生意图到安全入库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71881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08/31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18488"/>
            <a:ext cx="6217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80003"/>
            <a:ext cx="5998464" cy="94021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654296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图：多智能体自治工作流</a:t>
            </a:r>
            <a:endParaRPr lang="en-US" sz="100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2296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自然语言输入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987425" y="5797550"/>
            <a:ext cx="2222500" cy="1460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我想学什么、卡在哪里、想怎么学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14700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79165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43884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任务拆解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43884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编排器拆成多阶段可执行任务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71032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3537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0216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协同生成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00216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专业智能体分工处理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627364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9221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56548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</a:rPr>
              <a:t>安全校验</a:t>
            </a:r>
            <a:endParaRPr lang="en-US" sz="1600" b="1" dirty="0">
              <a:solidFill>
                <a:srgbClr val="166534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8956548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校验官把关后入库展示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8" name="Shape 35"/>
          <p:cNvSpPr/>
          <p:nvPr/>
        </p:nvSpPr>
        <p:spPr>
          <a:xfrm>
            <a:off x="7360920" y="178308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525512" y="192938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自治设计思想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7525512" y="2304288"/>
            <a:ext cx="3191256" cy="1755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学生无需理解复杂资源组织逻辑，只需表达学习目标与卡点，系统自动完成画像更新、资源生成、路径调整和结果评估。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技术栈选择：轻量、可演示、可扩展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05866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09/31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2763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7739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前端框架：React 18 + TypeScript + Vite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148840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组件化效率高，类型约束明确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53912" y="162763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7739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样式动效：Tailwind CSS + framer-motion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18504" y="2148840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便于玻璃态卡片、粒子背景和流式动画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77240" y="270662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2852928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状态管理：Zustand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1832" y="3227832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轻量Hook友好，统一管理画像、资源、练习、对话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53912" y="270662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2852928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内容渲染：react-markdown + remark-gfm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18504" y="3227832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支持 Markdown、表格、代码块和数学内容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3785616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3931920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可视化：ReactFlow + Dagre / 手写 SVG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1832" y="4306824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支持路径图谱、雷达图、热力图与导图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53912" y="3785616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931920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智能体层：Orchestrator + AgentDefinition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18504" y="4306824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用角色化智能体组织任务阶段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12E81"/>
                </a:solidFill>
              </a:rPr>
              <a:t>架构策略：演示版本一键启动，生产版本可在 AgentService 抽象下接入真实大模型、后端 API 与数据库。</a:t>
            </a:r>
            <a:endParaRPr lang="en-US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数据模型：让每一次学习都留下证据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39852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10/31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0185" y="1572895"/>
            <a:ext cx="6978015" cy="402717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07260"/>
            <a:ext cx="6720840" cy="2228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8408" y="4727448"/>
            <a:ext cx="5715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图：核心数据关系图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452360" y="1764792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25512" y="18425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Learner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326880" y="1764792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0032" y="18425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ProfileVersion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452360" y="2386584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25512" y="2464308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KnowledgeNode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326880" y="2386584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00032" y="2464308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Resource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452360" y="3008376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25512" y="3086100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LearningRecord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326880" y="3008376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00032" y="3086100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StudyPlan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360920" y="3977640"/>
            <a:ext cx="3429000" cy="229425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525512" y="412394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2E81"/>
                </a:solidFill>
              </a:rPr>
              <a:t>设计重点</a:t>
            </a:r>
            <a:endParaRPr lang="en-US" sz="2400" b="1" dirty="0">
              <a:solidFill>
                <a:srgbClr val="312E81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7525512" y="5220843"/>
            <a:ext cx="309981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画像不是静态表单，而是可版本化对象；每次对话、练习或计划变更都可生成新的画像证据。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"/>
            <a:ext cx="12192000" cy="958215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WORKBENCH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工作台：学习状态的一站式总览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73837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11/31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72" y="1682496"/>
            <a:ext cx="5792272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工作台首页界面截图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48475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216687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3945" y="2541905"/>
            <a:ext cx="3282950" cy="10750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把多源状态转化为可读指标，如今日学习、连续打卡、平均掌握、待学节点。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475220" y="4244340"/>
            <a:ext cx="3135630" cy="1174115"/>
            <a:chOff x="11592" y="4680"/>
            <a:chExt cx="4938" cy="1324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26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学习状态汇总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1592" y="4680"/>
              <a:ext cx="4939" cy="1325"/>
              <a:chOff x="11592" y="4680"/>
              <a:chExt cx="4939" cy="1325"/>
            </a:xfrm>
          </p:grpSpPr>
          <p:sp>
            <p:nvSpPr>
              <p:cNvPr id="28" name="Shape 25"/>
              <p:cNvSpPr/>
              <p:nvPr/>
            </p:nvSpPr>
            <p:spPr>
              <a:xfrm>
                <a:off x="14299" y="4680"/>
                <a:ext cx="2232" cy="490"/>
              </a:xfrm>
              <a:prstGeom prst="roundRect">
                <a:avLst>
                  <a:gd name="adj" fmla="val 17647"/>
                </a:avLst>
              </a:prstGeom>
              <a:solidFill>
                <a:srgbClr val="4F46E5">
                  <a:alpha val="92000"/>
                </a:srgbClr>
              </a:solidFill>
              <a:ln w="10160">
                <a:solidFill>
                  <a:srgbClr val="4F46E5">
                    <a:alpha val="88000"/>
                  </a:srgbClr>
                </a:solidFill>
                <a:prstDash val="solid"/>
              </a:ln>
            </p:spPr>
          </p:sp>
          <p:sp>
            <p:nvSpPr>
              <p:cNvPr id="29" name="Text 26"/>
              <p:cNvSpPr/>
              <p:nvPr/>
            </p:nvSpPr>
            <p:spPr>
              <a:xfrm>
                <a:off x="14414" y="4826"/>
                <a:ext cx="2002" cy="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Fira Code" pitchFamily="34" charset="0"/>
                    <a:ea typeface="Fira Code" pitchFamily="34" charset="-122"/>
                    <a:cs typeface="Fira Code" pitchFamily="34" charset="-120"/>
                  </a:rPr>
                  <a:t>智能体编队展示</a:t>
                </a:r>
                <a:endPara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11592" y="5515"/>
                <a:ext cx="4939" cy="490"/>
                <a:chOff x="11592" y="5515"/>
                <a:chExt cx="4939" cy="490"/>
              </a:xfrm>
            </p:grpSpPr>
            <p:grpSp>
              <p:nvGrpSpPr>
                <p:cNvPr id="35" name="组合 34"/>
                <p:cNvGrpSpPr/>
                <p:nvPr/>
              </p:nvGrpSpPr>
              <p:grpSpPr>
                <a:xfrm>
                  <a:off x="11592" y="5515"/>
                  <a:ext cx="2232" cy="490"/>
                  <a:chOff x="11592" y="5515"/>
                  <a:chExt cx="2232" cy="490"/>
                </a:xfrm>
              </p:grpSpPr>
              <p:sp>
                <p:nvSpPr>
                  <p:cNvPr id="30" name="Shape 27"/>
                  <p:cNvSpPr/>
                  <p:nvPr/>
                </p:nvSpPr>
                <p:spPr>
                  <a:xfrm>
                    <a:off x="11592" y="5515"/>
                    <a:ext cx="2232" cy="490"/>
                  </a:xfrm>
                  <a:prstGeom prst="roundRect">
                    <a:avLst>
                      <a:gd name="adj" fmla="val 17647"/>
                    </a:avLst>
                  </a:prstGeom>
                  <a:solidFill>
                    <a:srgbClr val="4F46E5">
                      <a:alpha val="92000"/>
                    </a:srgbClr>
                  </a:solidFill>
                  <a:ln w="10160">
                    <a:solidFill>
                      <a:srgbClr val="4F46E5">
                        <a:alpha val="88000"/>
                      </a:srgbClr>
                    </a:solidFill>
                    <a:prstDash val="solid"/>
                  </a:ln>
                </p:spPr>
              </p:sp>
              <p:sp>
                <p:nvSpPr>
                  <p:cNvPr id="31" name="Text 28"/>
                  <p:cNvSpPr/>
                  <p:nvPr/>
                </p:nvSpPr>
                <p:spPr>
                  <a:xfrm>
                    <a:off x="11707" y="5662"/>
                    <a:ext cx="2002" cy="1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400" b="1" dirty="0">
                        <a:solidFill>
                          <a:srgbClr val="FFFFFF"/>
                        </a:solidFill>
                        <a:latin typeface="Fira Code" pitchFamily="34" charset="0"/>
                        <a:ea typeface="Fira Code" pitchFamily="34" charset="-122"/>
                        <a:cs typeface="Fira Code" pitchFamily="34" charset="-120"/>
                      </a:rPr>
                      <a:t>快捷任务发起</a:t>
                    </a:r>
                    <a:endParaRPr lang="en-US" sz="1400" b="1" dirty="0">
                      <a:solidFill>
                        <a:srgbClr val="FFFFFF"/>
                      </a:solidFill>
                      <a:latin typeface="Fira Code" pitchFamily="34" charset="0"/>
                      <a:ea typeface="Fira Code" pitchFamily="34" charset="-122"/>
                      <a:cs typeface="Fira Code" pitchFamily="34" charset="-120"/>
                    </a:endParaRPr>
                  </a:p>
                </p:txBody>
              </p:sp>
            </p:grpSp>
            <p:sp>
              <p:nvSpPr>
                <p:cNvPr id="32" name="Shape 29"/>
                <p:cNvSpPr/>
                <p:nvPr/>
              </p:nvSpPr>
              <p:spPr>
                <a:xfrm>
                  <a:off x="14299" y="5515"/>
                  <a:ext cx="2232" cy="490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22C55E">
                    <a:alpha val="92000"/>
                  </a:srgbClr>
                </a:solidFill>
                <a:ln w="10160">
                  <a:solidFill>
                    <a:srgbClr val="22C55E">
                      <a:alpha val="88000"/>
                    </a:srgbClr>
                  </a:solidFill>
                  <a:prstDash val="solid"/>
                </a:ln>
              </p:spPr>
            </p:sp>
            <p:sp>
              <p:nvSpPr>
                <p:cNvPr id="33" name="Text 30"/>
                <p:cNvSpPr/>
                <p:nvPr/>
              </p:nvSpPr>
              <p:spPr>
                <a:xfrm>
                  <a:off x="14414" y="5662"/>
                  <a:ext cx="2002" cy="1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b="1" dirty="0">
                      <a:solidFill>
                        <a:srgbClr val="FFFFFF"/>
                      </a:solidFill>
                      <a:latin typeface="Fira Code" pitchFamily="34" charset="0"/>
                      <a:ea typeface="Fira Code" pitchFamily="34" charset="-122"/>
                      <a:cs typeface="Fira Code" pitchFamily="34" charset="-120"/>
                    </a:rPr>
                    <a:t>今日学习提醒</a:t>
                  </a:r>
                  <a:endParaRPr lang="en-US" sz="1400" b="1" dirty="0">
                    <a:solidFill>
                      <a:srgbClr val="FFFFFF"/>
                    </a:solidFill>
                    <a:latin typeface="Fira Code" pitchFamily="34" charset="0"/>
                    <a:ea typeface="Fira Code" pitchFamily="34" charset="-122"/>
                    <a:cs typeface="Fira Code" pitchFamily="34" charset="-12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学习画像：六维能力动态更新</a:t>
            </a:r>
            <a:endParaRPr lang="en-US" sz="32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07822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12/31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5623"/>
            <a:ext cx="5952744" cy="343189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学习画像界面截图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634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71842" y="278815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画像会随对话和学习行为增量变化，而不是首次填写后固定不变。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360920" y="410718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知识基础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认知风格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易错偏好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学习节奏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兴趣方向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6" name="Shape 33"/>
            <p:cNvSpPr/>
            <p:nvPr/>
          </p:nvSpPr>
          <p:spPr>
            <a:xfrm>
              <a:off x="14299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14414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目标导向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STUDY PLAN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学习计划：从目标拆解为每日任务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41807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13/31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8980" y="1523365"/>
            <a:ext cx="4620895" cy="29921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1633220"/>
            <a:ext cx="4351655" cy="257365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-599440" y="4256405"/>
            <a:ext cx="4415155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</a:rPr>
              <a:t>学习计划界面截图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23901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70433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服务考研复习、课程补强、项目实操等目标，把参数转化为阶段性任务。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360920" y="428053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学习目标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重点方向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难度梯度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每日时长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持续天数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2421890" y="3701415"/>
            <a:ext cx="4564380" cy="27266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7" name="Image 1" descr="c:\Users\jiash\.trae-cn\work\6a5cdfd0d571f098b52c0381\eduverse_ppt30\media\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70" y="3841115"/>
            <a:ext cx="3729355" cy="222059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035300" y="626389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</a:rPr>
              <a:t>新增计划入口</a:t>
            </a:r>
            <a:endParaRPr lang="en-US" sz="102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WORKSHOP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资源工坊：多智能体生成学习资源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75792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14/31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717" y="1682496"/>
            <a:ext cx="5874382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资源工坊界面截图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9011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60654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学生选择资源类型和主题后，编排器匹配智能体编队并流式展示结果。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360920" y="405193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讲解文档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思维导图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分层题库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拓展阅读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教学动画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6" name="Shape 33"/>
            <p:cNvSpPr/>
            <p:nvPr/>
          </p:nvSpPr>
          <p:spPr>
            <a:xfrm>
              <a:off x="14299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14414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代码实操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资源生成链路：编排器驱动角色协同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09778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15/31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786" y="1682496"/>
            <a:ext cx="2232243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资源工坊模块处理流程图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1963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3945" y="2167255"/>
            <a:ext cx="3282950" cy="11188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全流程可观测，不是单一模型直接输出。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360920" y="394335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接收任务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选择编队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阶段日志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流式输出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安全入库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LEARNING PATH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学习路径：知识图谱驱动下一步推荐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43763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16/31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8674"/>
            <a:ext cx="5952744" cy="31657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学习路径界面截图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03581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56717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路径读取画像和学习记录，判断哪些节点跳过、补强或作为下一步推荐。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351395" y="407225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未学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进行中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已完成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推荐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锁定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PRACTICE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题库训练：训练数据回流画像与评估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77748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17/31</a:t>
            </a:r>
            <a:endParaRPr lang="en-US" sz="75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680417" y="1572797"/>
            <a:ext cx="5227517" cy="3035300"/>
            <a:chOff x="1050" y="2477"/>
            <a:chExt cx="9851" cy="6192"/>
          </a:xfrm>
        </p:grpSpPr>
        <p:sp>
          <p:nvSpPr>
            <p:cNvPr id="20" name="Shape 18"/>
            <p:cNvSpPr/>
            <p:nvPr/>
          </p:nvSpPr>
          <p:spPr>
            <a:xfrm>
              <a:off x="1181" y="2477"/>
              <a:ext cx="9720" cy="6192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2700">
              <a:solidFill>
                <a:srgbClr val="C7D2FE">
                  <a:alpha val="96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94A3B8">
                  <a:alpha val="18000"/>
                </a:srgbClr>
              </a:outerShdw>
            </a:effectLst>
          </p:spPr>
        </p:sp>
        <p:pic>
          <p:nvPicPr>
            <p:cNvPr id="21" name="Image 0" descr="c:\Users\jiash\.trae-cn\work\6a5cdfd0d571f098b52c0381\eduverse_ppt30\media\image16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4" y="2732"/>
              <a:ext cx="9374" cy="5250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1050" y="8232"/>
              <a:ext cx="928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题库训练界面截图</a:t>
              </a:r>
              <a:endParaRPr lang="en-US" sz="1400" dirty="0">
                <a:solidFill>
                  <a:srgbClr val="64748B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85965" y="4869180"/>
            <a:ext cx="3611880" cy="1513840"/>
            <a:chOff x="11448" y="2592"/>
            <a:chExt cx="5688" cy="2384"/>
          </a:xfrm>
        </p:grpSpPr>
        <p:sp>
          <p:nvSpPr>
            <p:cNvPr id="23" name="Shape 20"/>
            <p:cNvSpPr/>
            <p:nvPr/>
          </p:nvSpPr>
          <p:spPr>
            <a:xfrm>
              <a:off x="11448" y="2592"/>
              <a:ext cx="5688" cy="2384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4F46E5">
                  <a:alpha val="90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C7D2FE">
                  <a:alpha val="22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11707" y="2822"/>
              <a:ext cx="517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12E81"/>
                  </a:solidFill>
                </a:rPr>
                <a:t>核心作用</a:t>
              </a:r>
              <a:endParaRPr lang="en-US" sz="2000" b="1" dirty="0">
                <a:solidFill>
                  <a:srgbClr val="312E81"/>
                </a:solidFill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11692" y="3769"/>
              <a:ext cx="5170" cy="36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64748B"/>
                  </a:solidFill>
                </a:rPr>
                <a:t>题目与知识点绑定，完成后沉淀答题量、正确数、准确率和日期。</a:t>
              </a:r>
              <a:endParaRPr lang="en-US" dirty="0">
                <a:solidFill>
                  <a:srgbClr val="64748B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849755" y="493776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单选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多选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填空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判断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代码补全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6182360" y="1581150"/>
            <a:ext cx="5339080" cy="30264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7" name="Image 1" descr="c:\Users\jiash\.trae-cn\work\6a5cdfd0d571f098b52c0381\eduverse_ppt30\media\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350" y="1831340"/>
            <a:ext cx="4702810" cy="249809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040880" y="439445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自行发布题目</a:t>
            </a:r>
            <a:endParaRPr lang="en-US" sz="14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TUTOR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智能辅导：问题匹配到结构化讲解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11733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18/31</a:t>
            </a:r>
            <a:endParaRPr lang="en-US" sz="75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749935" y="1427496"/>
            <a:ext cx="5621655" cy="3407394"/>
            <a:chOff x="1181" y="2201"/>
            <a:chExt cx="9720" cy="6468"/>
          </a:xfrm>
        </p:grpSpPr>
        <p:sp>
          <p:nvSpPr>
            <p:cNvPr id="20" name="Shape 18"/>
            <p:cNvSpPr/>
            <p:nvPr/>
          </p:nvSpPr>
          <p:spPr>
            <a:xfrm>
              <a:off x="1181" y="2201"/>
              <a:ext cx="9720" cy="6468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2700">
              <a:solidFill>
                <a:srgbClr val="C7D2FE">
                  <a:alpha val="96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94A3B8">
                  <a:alpha val="18000"/>
                </a:srgbClr>
              </a:outerShdw>
            </a:effectLst>
          </p:spPr>
        </p:sp>
        <p:pic>
          <p:nvPicPr>
            <p:cNvPr id="21" name="Image 0" descr="c:\Users\jiash\.trae-cn\work\6a5cdfd0d571f098b52c0381\eduverse_ppt30\media\image1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75" y="2650"/>
              <a:ext cx="8931" cy="5414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1300" y="2260"/>
              <a:ext cx="928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400" dirty="0">
                <a:solidFill>
                  <a:srgbClr val="64748B"/>
                </a:solidFill>
              </a:endParaRPr>
            </a:p>
          </p:txBody>
        </p:sp>
      </p:grpSp>
      <p:sp>
        <p:nvSpPr>
          <p:cNvPr id="23" name="Shape 20"/>
          <p:cNvSpPr/>
          <p:nvPr/>
        </p:nvSpPr>
        <p:spPr>
          <a:xfrm>
            <a:off x="7269480" y="164592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核心作用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16712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先识别关键词匹配知识点，再组织结构化回答，适合解释 A*、Transformer 等概念。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60920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34072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核心定义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079992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53144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关键性质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360920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34072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图示理解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079992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53144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代码实现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360920" y="403250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34072" y="4110228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易错点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079992" y="403250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53144" y="4110228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学习建议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896745" y="4543425"/>
            <a:ext cx="9436100" cy="17818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9" name="Image 1" descr="c:\Users\jiash\.trae-cn\work\6a5cdfd0d571f098b52c0381\eduverse_ppt30\media\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065" y="4756150"/>
            <a:ext cx="8695690" cy="143129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033905" y="5951220"/>
            <a:ext cx="3337560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学习评估：从数据展示到补学建议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45718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19/31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935" y="1572895"/>
            <a:ext cx="5925820" cy="3404235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" y="1682750"/>
            <a:ext cx="5406390" cy="31464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7095" y="5203190"/>
            <a:ext cx="5191125" cy="122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核心作用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16712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把练习、画像、资源使用汇总为结果，并衔接后续补学资源。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60920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34072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雷达图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079992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53144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热力图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360920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34072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建议卡片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079992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53144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薄弱点定位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82795" y="4249420"/>
            <a:ext cx="5299710" cy="20231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5" name="Image 1" descr="c:\Users\jiash\.trae-cn\work\6a5cdfd0d571f098b52c0381\eduverse_ppt30\media\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05" y="4373880"/>
            <a:ext cx="4397375" cy="170053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406640" y="540410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资源中心：生成成果的统一资产库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79704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20/31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4690" y="1459230"/>
            <a:ext cx="5455285" cy="3225165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45" y="1645920"/>
            <a:ext cx="5260975" cy="2727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4100830" cy="11982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55662" y="2263013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统一管理生成或预置的学习资源，让学生在路径之外也能重新查找资料。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806690" y="356044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类型筛选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知识点筛选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收藏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复用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回查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2159000" y="3977005"/>
            <a:ext cx="5201920" cy="24511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2781300" y="6101715"/>
            <a:ext cx="3903980" cy="250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思维导图</a:t>
            </a:r>
            <a:endParaRPr lang="en-US" sz="1600" dirty="0">
              <a:solidFill>
                <a:srgbClr val="64748B"/>
              </a:solidFill>
            </a:endParaRPr>
          </a:p>
        </p:txBody>
      </p:sp>
      <p:pic>
        <p:nvPicPr>
          <p:cNvPr id="40" name="Image 1" descr="c:\Users\jiash\.trae-cn\work\6a5cdfd0d571f098b52c0381\eduverse_ppt30\media\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70" y="4305300"/>
            <a:ext cx="4458335" cy="1753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DETAIL DESIGN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模块详细设计：四个工程维度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13689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21/31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71907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186537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页面交互维度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4028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把状态、资源、路径、题目和对话转化为可操作界面。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89320" y="171907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53912" y="186537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状态数据维度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53912" y="224028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沉淀画像版本、学习记录、练习记录、资源状态与计划任务。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313639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28269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智能生成维度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" y="365760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将主题、问题、目标转化为多智能体任务与资源结果。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89320" y="313639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328269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质量保障维度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53912" y="365760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处理异常、校验内容可信度，并支撑后续工程扩展。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400" y="5166360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2E81"/>
                </a:solidFill>
              </a:rPr>
              <a:t>设计原则：页面只管呈现和触发，复杂业务集中到 Store、服务函数或编排器中处理。</a:t>
            </a:r>
            <a:endParaRPr lang="en-US" sz="20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画像增量更新算法：可解释的学习状态变化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47674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22/31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学习信号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对话、练习、日志中的自然语言反馈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37560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关键词匹配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66744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正向词与负向词映射到画像维度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6752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增量计算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45936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每维形成 delta 并记录触发证据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95944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0536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5128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版本更新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25128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生成可追溯画像版本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60120" y="374904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24712" y="3895344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正向示例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24712" y="4270248"/>
            <a:ext cx="43342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“掌握、学会、吃透、进步、熟练” → 知识基础等维度提升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80760" y="374904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9E0B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45352" y="3895344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负向示例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45352" y="4270248"/>
            <a:ext cx="43342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“卡住、不会、太难、听不懂、记不住” → 调整难度和学习节奏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MATCHING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知识点匹配算法：轻量离线检索能力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81659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23/31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问题标准化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统一大小写与文本形式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26130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0722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5314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关键词扫描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5314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遍历知识点标题、关键词、摘要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93892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8484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3076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长度加权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23076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长专业术语权重更高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61654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26246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90838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</a:rPr>
              <a:t>输出主知识点</a:t>
            </a:r>
            <a:endParaRPr lang="en-US" sz="1600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990838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关联前置依赖与拓展节点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14400" y="345643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8992" y="36027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为什么适合 Demo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8992" y="3977640"/>
            <a:ext cx="45628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无需向量数据库、无需外部 API，通过本地字符串匹配即可完成知识点关联，部署门槛低。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44768" y="345643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36027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生产可替换方向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09360" y="3977640"/>
            <a:ext cx="45628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稠密向量检索、BM25、教材切片 RAG、关键词 + 向量混合检索。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ROUTING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资源生成编队算法：按资源类型选择最短链路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15644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24/31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68680" y="16916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3272" y="183794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理论讲解文档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3272" y="221284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编织者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183794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分层题库习题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6792" y="221284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出题官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80" y="30175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3272" y="316382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算法/电路可视化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33272" y="353872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视觉师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30175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36792" y="316382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编程/硬件实操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6792" y="353872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实操匠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400" y="5102352"/>
            <a:ext cx="10149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核心价值：按任务选择必要链路，减少冗余步骤，同时让协作日志更清晰。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ASSESSMENT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评估统计算法：练习采集到精准补强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49630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25/31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题库训练数据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正确率、错题频次、耗时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14700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9292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3884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学习路径数据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43884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节点解锁、完成、回溯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6752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画像时序数据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45936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维度数值变化曲线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18804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3396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7988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补强清单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47988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薄弱点关联讲义、题库、实操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60120" y="3794760"/>
            <a:ext cx="9921240" cy="15163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24712" y="3941064"/>
            <a:ext cx="9592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闭环联动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18057" y="4672838"/>
            <a:ext cx="9592056" cy="21031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系统不只输出总分和排名，而是在评估后自动筛选低正确率知识点、长期未完成节点和持续下降画像维度，衔接后续学习行为。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AGENTS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七类智能体：分工清晰的学习服务团队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83615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26/31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灵境队长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对话引导、画像构建、任务分发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9768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解构者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6227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知识点拆解、前置依赖分析、导图骨架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81812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编织者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98271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讲解文档和拓展阅读撰写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出题官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183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题目生成、难度分级、易错点靶向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29768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视觉师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6227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SVG 图解与教学动画分镜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1812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实操匠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8271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代码案例、运行环境、示例注释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77240" y="3840480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" y="3986784"/>
            <a:ext cx="6163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校验官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" y="4361688"/>
            <a:ext cx="6163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事实核查、安全过滤、引用补全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5257800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编排器并不是同时调用所有智能体，而是根据资源类型选择最短必要链路。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SAFETY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防幻觉与安全校验：生成后必须验证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17600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27/31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0020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96397"/>
            <a:ext cx="6089904" cy="119088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4956048"/>
            <a:ext cx="6035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图：安全校验与防幻觉流程图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388352" y="167335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52944" y="1819656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敏感词检查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388352" y="233172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2944" y="247802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知识点白名单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388352" y="299008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52944" y="3136392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代码块粗语法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388352" y="36484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52944" y="3794760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引用补全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388352" y="43068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4453128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安全分计算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388225" y="5074920"/>
            <a:ext cx="3520440" cy="105346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552944" y="522122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生产增强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7570724" y="5742559"/>
            <a:ext cx="3191256" cy="274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教材 RAG、置信度评估、代码沙箱、内容安全 API</a:t>
            </a:r>
            <a:endParaRPr lang="en-US" sz="12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23060"/>
            <a:ext cx="12192000" cy="848106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06 · 测试与规划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测试结果：核心演示链路全部通过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51585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28/31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8275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1833372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TC-01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45920" y="16642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0512" y="1810512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首次进入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10512" y="2176272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生成初始画像并进入工作台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168275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833372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TC-02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03720" y="16642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1810512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画像更新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68312" y="2176272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画像维度增量变化并记录证据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2670175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2820924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TC-03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45920" y="2651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0512" y="2798064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资源生成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810512" y="3163824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智能体日志滚动并通过校验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80760" y="2670175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2820924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TC-04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03720" y="2651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798064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智能辅导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68312" y="3163824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返回结构化讲解与建议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" y="365760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808476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TC-05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645920" y="3639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10512" y="3785616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题库训练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810512" y="4151376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生成准确率并进入记录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365760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3808476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TC-06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03720" y="3639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3785616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评估展示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68312" y="4151376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雷达图、热力图与建议正常展示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14400" y="5230368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2E81"/>
                </a:solidFill>
              </a:rPr>
              <a:t>上表为人工回归；核心逻辑另有 66 项自动化用例随 npm run quality 一并执行。演示版逻辑在浏览器本地运行，不受外部 API 波动影响。</a:t>
            </a:r>
            <a:endParaRPr lang="en-US" sz="20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06 · 测试与规划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ROADMAP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应用前景与迭代路线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85570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30/31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应用场景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高校课程教学、课后复习、考试训练、竞赛备赛、项目实训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26130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0722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5314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短期迭代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5314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接入真实大模型，扩展课程知识库，完善错题本和复习提醒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9612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4204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8796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中期迭代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68796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引入后端数据库，增加教师端，强化防幻觉机制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53094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7686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2278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长期规划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2278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发展为高校智慧教育平台中的个性化学习引擎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51560" y="4069080"/>
            <a:ext cx="9692640" cy="181991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16152" y="4215384"/>
            <a:ext cx="93634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价值提升路径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16152" y="5017643"/>
            <a:ext cx="9363456" cy="21031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从单课程演示系统，逐步演进到多课程、多角色、多数据源的学习成长档案与教育供给调度能力。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THANK YOU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04545" y="1234440"/>
            <a:ext cx="515810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</a:rPr>
              <a:t>让系统理解学生</a:t>
            </a:r>
            <a:endParaRPr lang="en-US" sz="3200" b="1" dirty="0">
              <a:solidFill>
                <a:srgbClr val="312E8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545" y="1874520"/>
            <a:ext cx="614997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46E5"/>
                </a:solidFill>
              </a:rPr>
              <a:t>并持续调整教育供给</a:t>
            </a:r>
            <a:endParaRPr lang="en-US" sz="3200" b="1" dirty="0">
              <a:solidFill>
                <a:srgbClr val="4F46E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375" y="2761615"/>
            <a:ext cx="6348095" cy="84137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智学灵境 EduVerse 的核心价值不止是生成资源，而是把画像、路径、资源、训练与评估连接成可长期迭代的学习闭环。</a:t>
            </a: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理解学生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六维画像与证据链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37560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生成资源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66744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多智能体协作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16752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校验可信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45936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安全边界与防幻觉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95944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0536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5128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持续成长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25128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评估与补学闭环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0" y="141732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Q&amp;A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658368" y="6428232"/>
            <a:ext cx="1019556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31/31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06 · 测试与规划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工程质量与性能：可量化的验收证据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6992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29/31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" y="223088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2E81"/>
                </a:solidFill>
              </a:rPr>
              <a:t>自动化测试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5 个测试文件、66 项用例全部通过，语句覆盖率 99.09%。</a:t>
            </a:r>
            <a:endParaRPr lang="en-US" sz="18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43584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16736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TEST_SUITE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47872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12464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2E81"/>
                </a:solidFill>
              </a:rPr>
              <a:t>静态检查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2464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类型检查通过，ESLint 0 错 0 警，五道闸门由 npm run quality 串联。</a:t>
            </a:r>
            <a:endParaRPr lang="en-US" sz="18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14216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7368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STATIC_CHECK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18504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2E81"/>
                </a:solidFill>
              </a:rPr>
              <a:t>首屏性能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83096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入口 JS 2,220 kB 降至 284 kB，首屏阻塞脚本 gzip 542.9 降至 133.9 kB。</a:t>
            </a:r>
            <a:endParaRPr lang="en-US" sz="1800" dirty="0">
              <a:solidFill>
                <a:srgbClr val="64748B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84848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FIRST_PAINT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89136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53728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2E81"/>
                </a:solidFill>
              </a:rPr>
              <a:t>运行稳定性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53728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桌面与 390×844 移动端共 8 个页面回归，控制台 0 error、0 warning。</a:t>
            </a:r>
            <a:endParaRPr lang="en-US" sz="18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55480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8632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RUNTIME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2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3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4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5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6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7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8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9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0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1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2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3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4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5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6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5065</Words>
  <Application>WPS 演示</Application>
  <PresentationFormat>On-screen Show (16:9)</PresentationFormat>
  <Paragraphs>884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宋体</vt:lpstr>
      <vt:lpstr>Wingdings</vt:lpstr>
      <vt:lpstr>Fira Code</vt:lpstr>
      <vt:lpstr>Segoe Print</vt:lpstr>
      <vt:lpstr>Fira Code</vt:lpstr>
      <vt:lpstr>Fira Code</vt:lpstr>
      <vt:lpstr>Arial</vt:lpstr>
      <vt:lpstr>微软雅黑</vt:lpstr>
      <vt:lpstr>微软雅黑</vt:lpstr>
      <vt:lpstr>Arial Unicode MS</vt:lpstr>
      <vt:lpstr>等线</vt:lpstr>
      <vt:lpstr>Calibri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EduVerse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智学灵境 EduVerse 30页答辩PPT</dc:title>
  <dc:creator>TRAE</dc:creator>
  <dc:subject>智学灵境 EduVerse 高等教育个性化学习多智能体系统</dc:subject>
  <cp:lastModifiedBy>The residual pupil</cp:lastModifiedBy>
  <cp:revision>2</cp:revision>
  <dcterms:created xsi:type="dcterms:W3CDTF">2026-07-19T14:37:00Z</dcterms:created>
  <dcterms:modified xsi:type="dcterms:W3CDTF">2026-07-19T15:47:09Z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DD1630825EFA4D329D1AA3BB31534187_13</vt:lpwstr>
  </property>
</Properties>
</file>